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Carlos Arias" userId="516c89d14e59d458" providerId="LiveId" clId="{21CA5D15-785A-486F-9325-D036C4009284}"/>
    <pc:docChg chg="custSel modSld">
      <pc:chgData name="Juan Carlos Arias" userId="516c89d14e59d458" providerId="LiveId" clId="{21CA5D15-785A-486F-9325-D036C4009284}" dt="2026-05-22T03:38:21.134" v="28" actId="20577"/>
      <pc:docMkLst>
        <pc:docMk/>
      </pc:docMkLst>
      <pc:sldChg chg="modSp mod">
        <pc:chgData name="Juan Carlos Arias" userId="516c89d14e59d458" providerId="LiveId" clId="{21CA5D15-785A-486F-9325-D036C4009284}" dt="2026-05-22T03:38:19.729" v="26" actId="20577"/>
        <pc:sldMkLst>
          <pc:docMk/>
          <pc:sldMk cId="0" sldId="258"/>
        </pc:sldMkLst>
        <pc:spChg chg="mod">
          <ac:chgData name="Juan Carlos Arias" userId="516c89d14e59d458" providerId="LiveId" clId="{21CA5D15-785A-486F-9325-D036C4009284}" dt="2026-05-22T03:35:59.599" v="0" actId="20577"/>
          <ac:spMkLst>
            <pc:docMk/>
            <pc:sldMk cId="0" sldId="258"/>
            <ac:spMk id="3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5:59.774" v="1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8:19.729" v="26" actId="20577"/>
          <ac:spMkLst>
            <pc:docMk/>
            <pc:sldMk cId="0" sldId="258"/>
            <ac:spMk id="11" creationId="{00000000-0000-0000-0000-000000000000}"/>
          </ac:spMkLst>
        </pc:spChg>
      </pc:sldChg>
      <pc:sldChg chg="modSp mod">
        <pc:chgData name="Juan Carlos Arias" userId="516c89d14e59d458" providerId="LiveId" clId="{21CA5D15-785A-486F-9325-D036C4009284}" dt="2026-05-22T03:38:20.482" v="27" actId="20577"/>
        <pc:sldMkLst>
          <pc:docMk/>
          <pc:sldMk cId="0" sldId="259"/>
        </pc:sldMkLst>
        <pc:spChg chg="mod">
          <ac:chgData name="Juan Carlos Arias" userId="516c89d14e59d458" providerId="LiveId" clId="{21CA5D15-785A-486F-9325-D036C4009284}" dt="2026-05-22T03:36:00.237" v="3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0.310" v="4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0.444" v="5" actId="20577"/>
          <ac:spMkLst>
            <pc:docMk/>
            <pc:sldMk cId="0" sldId="259"/>
            <ac:spMk id="10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0.518" v="6" actId="2057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8:20.482" v="27" actId="20577"/>
          <ac:spMkLst>
            <pc:docMk/>
            <pc:sldMk cId="0" sldId="259"/>
            <ac:spMk id="19" creationId="{00000000-0000-0000-0000-000000000000}"/>
          </ac:spMkLst>
        </pc:spChg>
      </pc:sldChg>
      <pc:sldChg chg="modSp mod">
        <pc:chgData name="Juan Carlos Arias" userId="516c89d14e59d458" providerId="LiveId" clId="{21CA5D15-785A-486F-9325-D036C4009284}" dt="2026-05-22T03:38:21.134" v="28" actId="20577"/>
        <pc:sldMkLst>
          <pc:docMk/>
          <pc:sldMk cId="0" sldId="260"/>
        </pc:sldMkLst>
        <pc:spChg chg="mod">
          <ac:chgData name="Juan Carlos Arias" userId="516c89d14e59d458" providerId="LiveId" clId="{21CA5D15-785A-486F-9325-D036C4009284}" dt="2026-05-22T03:36:01.682" v="8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8:21.134" v="28" actId="2057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1.889" v="10" actId="20577"/>
          <ac:spMkLst>
            <pc:docMk/>
            <pc:sldMk cId="0" sldId="260"/>
            <ac:spMk id="15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2.015" v="11" actId="20577"/>
          <ac:spMkLst>
            <pc:docMk/>
            <pc:sldMk cId="0" sldId="260"/>
            <ac:spMk id="18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2.085" v="12" actId="20577"/>
          <ac:spMkLst>
            <pc:docMk/>
            <pc:sldMk cId="0" sldId="260"/>
            <ac:spMk id="19" creationId="{00000000-0000-0000-0000-000000000000}"/>
          </ac:spMkLst>
        </pc:spChg>
      </pc:sldChg>
      <pc:sldChg chg="modSp mod">
        <pc:chgData name="Juan Carlos Arias" userId="516c89d14e59d458" providerId="LiveId" clId="{21CA5D15-785A-486F-9325-D036C4009284}" dt="2026-05-22T03:36:02.559" v="14" actId="20577"/>
        <pc:sldMkLst>
          <pc:docMk/>
          <pc:sldMk cId="0" sldId="261"/>
        </pc:sldMkLst>
        <pc:spChg chg="mod">
          <ac:chgData name="Juan Carlos Arias" userId="516c89d14e59d458" providerId="LiveId" clId="{21CA5D15-785A-486F-9325-D036C4009284}" dt="2026-05-22T03:36:02.380" v="13" actId="20577"/>
          <ac:spMkLst>
            <pc:docMk/>
            <pc:sldMk cId="0" sldId="261"/>
            <ac:spMk id="7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2.559" v="14" actId="20577"/>
          <ac:spMkLst>
            <pc:docMk/>
            <pc:sldMk cId="0" sldId="261"/>
            <ac:spMk id="11" creationId="{00000000-0000-0000-0000-000000000000}"/>
          </ac:spMkLst>
        </pc:spChg>
      </pc:sldChg>
      <pc:sldChg chg="modSp mod">
        <pc:chgData name="Juan Carlos Arias" userId="516c89d14e59d458" providerId="LiveId" clId="{21CA5D15-785A-486F-9325-D036C4009284}" dt="2026-05-22T03:36:03.530" v="17" actId="20577"/>
        <pc:sldMkLst>
          <pc:docMk/>
          <pc:sldMk cId="0" sldId="262"/>
        </pc:sldMkLst>
        <pc:spChg chg="mod">
          <ac:chgData name="Juan Carlos Arias" userId="516c89d14e59d458" providerId="LiveId" clId="{21CA5D15-785A-486F-9325-D036C4009284}" dt="2026-05-22T03:36:02.911" v="15" actId="20577"/>
          <ac:spMkLst>
            <pc:docMk/>
            <pc:sldMk cId="0" sldId="262"/>
            <ac:spMk id="7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3.139" v="16" actId="20577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3.530" v="17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mod">
        <pc:chgData name="Juan Carlos Arias" userId="516c89d14e59d458" providerId="LiveId" clId="{21CA5D15-785A-486F-9325-D036C4009284}" dt="2026-05-22T03:36:04.429" v="21" actId="20577"/>
        <pc:sldMkLst>
          <pc:docMk/>
          <pc:sldMk cId="0" sldId="263"/>
        </pc:sldMkLst>
        <pc:spChg chg="mod">
          <ac:chgData name="Juan Carlos Arias" userId="516c89d14e59d458" providerId="LiveId" clId="{21CA5D15-785A-486F-9325-D036C4009284}" dt="2026-05-22T03:36:03.912" v="18" actId="20577"/>
          <ac:spMkLst>
            <pc:docMk/>
            <pc:sldMk cId="0" sldId="263"/>
            <ac:spMk id="8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3.985" v="19" actId="20577"/>
          <ac:spMkLst>
            <pc:docMk/>
            <pc:sldMk cId="0" sldId="263"/>
            <ac:spMk id="9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4.363" v="20" actId="20577"/>
          <ac:spMkLst>
            <pc:docMk/>
            <pc:sldMk cId="0" sldId="263"/>
            <ac:spMk id="17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4.429" v="21" actId="20577"/>
          <ac:spMkLst>
            <pc:docMk/>
            <pc:sldMk cId="0" sldId="263"/>
            <ac:spMk id="18" creationId="{00000000-0000-0000-0000-000000000000}"/>
          </ac:spMkLst>
        </pc:spChg>
      </pc:sldChg>
      <pc:sldChg chg="modSp mod">
        <pc:chgData name="Juan Carlos Arias" userId="516c89d14e59d458" providerId="LiveId" clId="{21CA5D15-785A-486F-9325-D036C4009284}" dt="2026-05-22T03:36:05.100" v="24" actId="20577"/>
        <pc:sldMkLst>
          <pc:docMk/>
          <pc:sldMk cId="0" sldId="264"/>
        </pc:sldMkLst>
        <pc:spChg chg="mod">
          <ac:chgData name="Juan Carlos Arias" userId="516c89d14e59d458" providerId="LiveId" clId="{21CA5D15-785A-486F-9325-D036C4009284}" dt="2026-05-22T03:36:04.771" v="2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4.963" v="23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Juan Carlos Arias" userId="516c89d14e59d458" providerId="LiveId" clId="{21CA5D15-785A-486F-9325-D036C4009284}" dt="2026-05-22T03:36:05.100" v="24" actId="20577"/>
          <ac:spMkLst>
            <pc:docMk/>
            <pc:sldMk cId="0" sldId="264"/>
            <ac:spMk id="1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1052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463040" cy="320040"/>
          </a:xfrm>
          <a:prstGeom prst="roundRect">
            <a:avLst>
              <a:gd name="adj" fmla="val 14286"/>
            </a:avLst>
          </a:prstGeom>
          <a:solidFill>
            <a:srgbClr val="30405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INTERNO · VENTAS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Call Prep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C8D8F8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Juan Carlos Bautista Jacobo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 · Coordinación de Estrategia Digital Nacional → ATDT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3200400" cy="18288"/>
          </a:xfrm>
          <a:prstGeom prst="rect">
            <a:avLst/>
          </a:prstGeom>
          <a:solidFill>
            <a:srgbClr val="C8D8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2026  ·  Ábargon S.A. de C.V.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A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Juan Carlos Bautista Jacobo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749040" cy="1463040"/>
          </a:xfrm>
          <a:prstGeom prst="rect">
            <a:avLst/>
          </a:prstGeom>
          <a:solidFill>
            <a:srgbClr val="262A3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00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ACTUAL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Titular, Coordinación de Estrategia Digital Nacional — Presidencia de la República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hacia la nueva Agencia de Transformación Digital y Telecomunicaciones (ATDT)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749040" cy="1463040"/>
          </a:xfrm>
          <a:prstGeom prst="rect">
            <a:avLst/>
          </a:prstGeom>
          <a:solidFill>
            <a:srgbClr val="262A3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157276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 IMPORTA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Digitalización de gobierno federal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Plataformas de participación ciudadana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Gobierno abierto y datos abiertos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Simplificar trámites, reducir corrupción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7863840" cy="1371600"/>
          </a:xfrm>
          <a:prstGeom prst="rect">
            <a:avLst/>
          </a:prstGeom>
          <a:solidFill>
            <a:srgbClr val="262A3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3375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TRAYECTORIA RELEVANTE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0" y="3657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2013–2016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886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Dir. Coordinación Interinstitucional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4160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Jefatura de Gobierno CDMX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154680" y="3794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A3A44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20440" y="3657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2016–2022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20440" y="3886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Coord. Gral. Proyectos e Innovación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20440" y="4160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ADIP CDMX (Llave CDMX)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760720" y="3794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A3A44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26480" y="3657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2024–hoy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3886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Titular Estrategia Digital Nacional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26480" y="4160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Presidencia → ATDT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Hablarle desde política pública digital, estándares nacionales e infraestructura replicable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749040" cy="2834640"/>
          </a:xfrm>
          <a:prstGeom prst="rect">
            <a:avLst/>
          </a:prstGeom>
          <a:solidFill>
            <a:srgbClr val="262A3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91640"/>
            <a:ext cx="3749040" cy="457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LLAMADA 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24028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2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Una conversación sobre política pública digital, estándares nacionales e infraestructura replicable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2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Una exploración de cómo experiencia probada puede traducirse en criterios y modelos replicables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2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Una oportunidad de entender las prioridades de la ATDT y dónde sumamos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2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Una charla donde escuchamos más que hablamos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749040" cy="2834640"/>
          </a:xfrm>
          <a:prstGeom prst="rect">
            <a:avLst/>
          </a:prstGeom>
          <a:solidFill>
            <a:srgbClr val="262A3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691640"/>
            <a:ext cx="3749040" cy="4572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9202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LLAMADA NO 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0" y="224028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2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Una venta de software ni una implementación local aislada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2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Una presentación completa del PDF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2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Una conversación centrada en baches, obra pública o ejecución operativa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ES" sz="12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Una propuesta local aislada — su rol es de política digital nacional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SÍ HACER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Lineamientos para la conversación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25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307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5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Posicionarse como aliado estratégico en política digital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"Llevamos años construyendo plataformas que digitalizan la relación gobierno-ciudadano y pueden convertirse en criterios replicables" — no como proveedor buscando contrato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240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221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5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Hablar en su idioma: política pública, estándares, datos, IA y escalabilidad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2514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Él piensa en habilitadores digitales para el país. Enfatizar: datos geolocalizados, IA que prioriza, trazabilidad y modelo replicable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31363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Escuchar primero, proponer después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34290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El 60% de la llamada debe ser descubrimiento. Preguntar por prioridades de la ATDT antes de mostrar cualquier cosa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069080"/>
            <a:ext cx="320040" cy="32004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069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40507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Hacer la pregunta estratégica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343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"¿Existe la visión de un estándar nacional de gestión de servicios urbanos digitales?" — esto lo posiciona dentro de política pública digital y adopción nacional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HACER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Errores que matan la llamada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320040" cy="320040"/>
          </a:xfrm>
          <a:prstGeom prst="ellipse">
            <a:avLst/>
          </a:prstGeom>
          <a:solidFill>
            <a:srgbClr val="E5393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25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307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No liderar con "Bache 24"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Fue un programa de la era Mancera. Él es de la era Sheinbaum/ADIP. Mencionarlo como ancla lo asocia con un gobierno anterior. Si él lo menciona, bien — pero nosotros no abrimos con eso.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320040" cy="320040"/>
          </a:xfrm>
          <a:prstGeom prst="ellipse">
            <a:avLst/>
          </a:prstGeom>
          <a:solidFill>
            <a:srgbClr val="E53935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240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221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No presentar el PDF completo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2514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La presentación está diseñada para presidentes municipales ("¡piloto en su municipio!"). Él es nivel federal. Usar sólo pantallas seleccionadas como referencia visual, sin recorrer la presentación completa.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320040" cy="320040"/>
          </a:xfrm>
          <a:prstGeom prst="ellipse">
            <a:avLst/>
          </a:prstGeom>
          <a:solidFill>
            <a:srgbClr val="E53935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1363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5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No bajar la conversación a ejecución operativa o implementación aislada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3429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Su carrera es digital: Llave CDMX, plataformas ciudadanas, gobierno abierto. El valor está en cómo una solución puede convertirse en estándar, política, lineamiento o referencia nacional para gobiernos locales.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069080"/>
            <a:ext cx="320040" cy="320040"/>
          </a:xfrm>
          <a:prstGeom prst="ellipse">
            <a:avLst/>
          </a:prstGeom>
          <a:solidFill>
            <a:srgbClr val="E5393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069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40507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5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No pedir una reunión con "obras" ni con un área puramente operativa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343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El cierre correcto es pedir que nos conecte con el área de la ATDT que define criterios, estándares tecnológicos y modelos de adopción para municipios.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PRESENTACIÓN PDF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"Transformando la Gestión Urbana" — qué usar y qué no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749040" cy="3200400"/>
          </a:xfrm>
          <a:prstGeom prst="rect">
            <a:avLst/>
          </a:prstGeom>
          <a:solidFill>
            <a:srgbClr val="262A3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63040"/>
            <a:ext cx="3749040" cy="457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459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USAR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3291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Slide 4 — Sistema Automatizado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IA + participación + evidencia geolocalizada. Traduce al lenguaje de infraestructura digital.</a:t>
            </a:r>
          </a:p>
          <a:p>
            <a:pPr marL="0" indent="0">
              <a:spcAft>
                <a:spcPts val="200"/>
              </a:spcAft>
              <a:buNone/>
            </a:pPr>
            <a:endParaRPr lang="es-ES" sz="1100" b="1">
              <a:solidFill>
                <a:srgbClr val="FFFFFF"/>
              </a:solidFill>
              <a:latin typeface="Source Sans Pro" pitchFamily="34" charset="0"/>
              <a:ea typeface="Source Sans Pro" pitchFamily="34" charset="-122"/>
              <a:cs typeface="Source Sans Pro" pitchFamily="34" charset="-12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Slide 7 — El Sistema en 3 Pasos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Flujo completo sin detalle operativo. Claro y ejecutivo.</a:t>
            </a:r>
          </a:p>
          <a:p>
            <a:pPr marL="0" indent="0">
              <a:spcAft>
                <a:spcPts val="200"/>
              </a:spcAft>
              <a:buNone/>
            </a:pPr>
            <a:endParaRPr lang="es-ES" sz="1100" b="1">
              <a:solidFill>
                <a:srgbClr val="FFFFFF"/>
              </a:solidFill>
              <a:latin typeface="Source Sans Pro" pitchFamily="34" charset="0"/>
              <a:ea typeface="Source Sans Pro" pitchFamily="34" charset="-122"/>
              <a:cs typeface="Source Sans Pro" pitchFamily="34" charset="-12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Slide 12 — Por Qué Funciona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Evidencia, IA, dashboard, costos. Los 4 pilares que conectan con transparencia y rendición de cuentas.</a:t>
            </a:r>
          </a:p>
          <a:p>
            <a:pPr marL="0" indent="0">
              <a:spcAft>
                <a:spcPts val="200"/>
              </a:spcAft>
              <a:buNone/>
            </a:pPr>
            <a:endParaRPr lang="es-ES" sz="1100" b="1">
              <a:solidFill>
                <a:srgbClr val="FFFFFF"/>
              </a:solidFill>
              <a:latin typeface="Source Sans Pro" pitchFamily="34" charset="0"/>
              <a:ea typeface="Source Sans Pro" pitchFamily="34" charset="-122"/>
              <a:cs typeface="Source Sans Pro" pitchFamily="34" charset="-12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Slides 13–14 — Cierre visual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Piloto y portal ciudadano. Útiles sólo si la conversación baja a implementación; no abrir con esto.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749040" cy="3200400"/>
          </a:xfrm>
          <a:prstGeom prst="rect">
            <a:avLst/>
          </a:prstGeom>
          <a:solidFill>
            <a:srgbClr val="262A3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463040"/>
            <a:ext cx="3749040" cy="4572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6459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USAR COMO EJE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0" y="1920240"/>
            <a:ext cx="3291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Slides 1-3 — Problemática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Él ya conoce el problema. No necesita la explicación.</a:t>
            </a:r>
          </a:p>
          <a:p>
            <a:pPr marL="0" indent="0">
              <a:spcAft>
                <a:spcPts val="200"/>
              </a:spcAft>
              <a:buNone/>
            </a:pPr>
            <a:endParaRPr lang="es-ES" sz="1100" b="1">
              <a:solidFill>
                <a:srgbClr val="FFFFFF"/>
              </a:solidFill>
              <a:latin typeface="Source Sans Pro" pitchFamily="34" charset="0"/>
              <a:ea typeface="Source Sans Pro" pitchFamily="34" charset="-122"/>
              <a:cs typeface="Source Sans Pro" pitchFamily="34" charset="-12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Slides 6, 8, 9 — Detalle operativo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App del censador, 8 servicios. Demasiado granular para nivel federal. Solo si pregunta.</a:t>
            </a:r>
          </a:p>
          <a:p>
            <a:pPr marL="0" indent="0">
              <a:spcAft>
                <a:spcPts val="200"/>
              </a:spcAft>
              <a:buNone/>
            </a:pPr>
            <a:endParaRPr lang="es-ES" sz="1100" b="1">
              <a:solidFill>
                <a:srgbClr val="FFFFFF"/>
              </a:solidFill>
              <a:latin typeface="Source Sans Pro" pitchFamily="34" charset="0"/>
              <a:ea typeface="Source Sans Pro" pitchFamily="34" charset="-122"/>
              <a:cs typeface="Source Sans Pro" pitchFamily="34" charset="-12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Slide 10 — Caso Bache 24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Era Mancera, posible carga política. No liderar con esto. Solo si él pregunta.</a:t>
            </a:r>
          </a:p>
          <a:p>
            <a:pPr marL="0" indent="0">
              <a:spcAft>
                <a:spcPts val="200"/>
              </a:spcAft>
              <a:buNone/>
            </a:pPr>
            <a:endParaRPr lang="es-ES" sz="1100" b="1">
              <a:solidFill>
                <a:srgbClr val="FFFFFF"/>
              </a:solidFill>
              <a:latin typeface="Source Sans Pro" pitchFamily="34" charset="0"/>
              <a:ea typeface="Source Sans Pro" pitchFamily="34" charset="-122"/>
              <a:cs typeface="Source Sans Pro" pitchFamily="34" charset="-12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Slide 13 — CTA municipal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ES" sz="1100" b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Puede bajar la conversación de política pública nacional a implementación local si se usa demasiado pronto.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LLAMADA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25–30 minutos · 4 bloques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05840" cy="320040"/>
          </a:xfrm>
          <a:prstGeom prst="rect">
            <a:avLst/>
          </a:prstGeom>
          <a:solidFill>
            <a:srgbClr val="C8D8F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0–5 min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828800" y="13533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Posicionamiento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28800" y="1673352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Presentación breve de Ábargon como constructores de plataformas digitales de gobierno. SIN mencionar Bache 24. Pregunta abierta sobre política digital, estándares y modelos replicables.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1005840" cy="32004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2860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5–15 min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28800" y="22677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Descubrimiento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828800" y="2587752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Escuchar. Prioridades de la ATDT. Estándares federales. Relación federal-municipal. Uso de IA en gestión pública. Participación ciudadana digital.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1005840" cy="3200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15–22 min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31821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Demo ligera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828800" y="3502152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Mostrar pantallas seleccionadas como caso de uso (slides 4, 7, 12 y, si aplica, 13-14). Enfatizar: datos desde el origen, IA que prioriza, criterios replicables.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114800"/>
            <a:ext cx="1005840" cy="320040"/>
          </a:xfrm>
          <a:prstGeom prst="rect">
            <a:avLst/>
          </a:prstGeom>
          <a:solidFill>
            <a:srgbClr val="C8D8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114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22–30 min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28800" y="4096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Cierre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828800" y="4416552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>
                <a:solidFill>
                  <a:srgbClr val="A0A0A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Ofrecer nota ejecutiva sobre estándar replicable bajo el marco ATDT. Pedir conexión con el área que define criterios, adopción y estándares tecnológicos.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 DESCUBRIMIENTO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Las que abren la conversación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2618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¿Cuáles son las prioridades de la ATDT en plataformas de participación ciudadana y gestión de servicios digitales?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5840" y="1645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el tema sin asumir. Deja que él defina el terreno.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¿La visión es que cada municipio tenga su plataforma, o buscan un estándar federal que pueda adoptarse localmente?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i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define si somos relevantes a nivel de política, referencia técnica o implementación.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779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7614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¿Cómo están pensando el uso de IA en la gestión pública?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3145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 directamente con el core de nuestra plataforma.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5112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¿Qué aprendizajes de ADIP y Llave CDMX están llevando al nivel federal?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38953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habla a SU experiencia. Es un halago implícito y abre la puerta a que comparta su visión.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4279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42611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¿Existe apertura para modelos de colaboración público-privada que ayuden a convertir experiencia probada en lineamientos replicables?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6451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000" i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si hay ruta real antes de invertir más tiempo.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 ANCLA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7863840" cy="1645920"/>
          </a:xfrm>
          <a:prstGeom prst="rect">
            <a:avLst/>
          </a:prstGeom>
          <a:solidFill>
            <a:srgbClr val="262A3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914400"/>
            <a:ext cx="54864" cy="1645920"/>
          </a:xfrm>
          <a:prstGeom prst="rect">
            <a:avLst/>
          </a:prstGeom>
          <a:solidFill>
            <a:srgbClr val="C8D8F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5156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600" i="1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"No venimos a hablar de baches como problema aislado. Venimos porque creemos que la infraestructura digital para gestión urbana ya existe, la hemos construido, y puede traducirse en estándares, criterios y modelos replicables para gobiernos locales. Eso es lo que la ATDT puede habilitar a escala nacional."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IDEAL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3749040" cy="1097280"/>
          </a:xfrm>
          <a:prstGeom prst="rect">
            <a:avLst/>
          </a:prstGeom>
          <a:solidFill>
            <a:srgbClr val="262A3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5204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3749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"¿Tiene sentido que preparemos una nota ejecutiva sobre cómo esta experiencia podría traducirse en un estándar de gestión digital replicable para municipios, alineado con la agenda de la ATDT?"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3383280"/>
            <a:ext cx="3749040" cy="1097280"/>
          </a:xfrm>
          <a:prstGeom prst="rect">
            <a:avLst/>
          </a:prstGeom>
          <a:solidFill>
            <a:srgbClr val="262A3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35204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8D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0" y="3749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Que nos conecte con el área correcta dentro de la ATDT — la que define estándares tecnológicos, criterios de adopción y modelos de implementación digital para gobiernos locales.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Ábargon S.A. de C.V.  ·  Confidencial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1184</Words>
  <Application>Microsoft Office PowerPoint</Application>
  <PresentationFormat>On-screen Show (16:9)</PresentationFormat>
  <Paragraphs>142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Source Sans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Call Prep — Juan Carlos Bautista Jacobo (ATDT)</dc:title>
  <dc:subject>PptxGenJS Presentation</dc:subject>
  <dc:creator>Ábargon S.A. de C.V.</dc:creator>
  <cp:lastModifiedBy>Juan Carlos Arias</cp:lastModifiedBy>
  <cp:revision>1</cp:revision>
  <dcterms:created xsi:type="dcterms:W3CDTF">2026-05-22T02:22:33Z</dcterms:created>
  <dcterms:modified xsi:type="dcterms:W3CDTF">2026-05-22T03:38:24Z</dcterms:modified>
</cp:coreProperties>
</file>